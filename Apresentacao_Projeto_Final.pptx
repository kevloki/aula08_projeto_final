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B4D8"/>
                </a:solidFill>
              </a:rPr>
              <a:t>Classificador de Saude Fetal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Pipeline MLOps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BBCC"/>
                </a:solidFill>
              </a:rPr>
              <a:t>Supabase · DuckDB · DagsHub · DVC · MLflow · Docker · Render · 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99AA"/>
                </a:solidFill>
              </a:rPr>
              <a:t>Keven Gomes Pereira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Problema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O que e CTG?
Cardiotocografia (CTG) monitora a frequencia cardiaca fetal e contracoes uterinas durante a gestacao.
Objetivo:
Classificar automaticamente a saude fetal em 3 categorias para auxiliar medicos na tomada de decisao.
Dataset (Kaggle):
• 2.126 exames de CTG
• 21 features clinicas
• Target: Normal / Suspect / Pathological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188720"/>
            <a:ext cx="3840480" cy="1280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Normal  77.8%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2834640"/>
            <a:ext cx="3840480" cy="12801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Suspect  13.9%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4480560"/>
            <a:ext cx="3840480" cy="1280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Pathological  8.3%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Arquitetura do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46304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B2A"/>
                </a:solidFill>
              </a:rPr>
              <a:t>1. Kaggle 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2860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Fonte dos dados
fetal_health.csv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5648" y="1536192"/>
            <a:ext cx="201168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56816" y="1188720"/>
            <a:ext cx="1463040" cy="91440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B2A"/>
                </a:solidFill>
              </a:rPr>
              <a:t>2. Supabase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11096" y="22860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Banco PostgreSQL
na nuvem</a:t>
            </a:r>
          </a:p>
        </p:txBody>
      </p:sp>
      <p:sp>
        <p:nvSpPr>
          <p:cNvPr id="9" name="Rectangle 8"/>
          <p:cNvSpPr/>
          <p:nvPr/>
        </p:nvSpPr>
        <p:spPr>
          <a:xfrm>
            <a:off x="3438144" y="1536192"/>
            <a:ext cx="201168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39312" y="1188720"/>
            <a:ext cx="1463040" cy="9144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B2A"/>
                </a:solidFill>
              </a:rPr>
              <a:t>3. DuckDB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2860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Feature Engineering
via SQL em memoria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536192"/>
            <a:ext cx="201168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21808" y="1188720"/>
            <a:ext cx="1463040" cy="914400"/>
          </a:xfrm>
          <a:prstGeom prst="rect">
            <a:avLst/>
          </a:prstGeom>
          <a:solidFill>
            <a:srgbClr val="A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B2A"/>
                </a:solidFill>
              </a:rPr>
              <a:t>4. DVC / DagsHub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22860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Versionamento
de dados e modelos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03136" y="1536192"/>
            <a:ext cx="201168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04304" y="1188720"/>
            <a:ext cx="1463040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B2A"/>
                </a:solidFill>
              </a:rPr>
              <a:t>5. MLflow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8584" y="22860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Experimentos
e Model Registry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85632" y="1536192"/>
            <a:ext cx="201168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0" y="1188720"/>
            <a:ext cx="1463040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B2A"/>
                </a:solidFill>
              </a:rPr>
              <a:t>6. Docker + Render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2860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Containerizacao
e deploy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68128" y="1536192"/>
            <a:ext cx="201168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69296" y="1188720"/>
            <a:ext cx="1463040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B2A"/>
                </a:solidFill>
              </a:rPr>
              <a:t>7. Streamlit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23576" y="22860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App publica
interativa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56616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Reproducibilidade:
  dvc repro   →   executa ingestion → preprocessing → train automaticamente
CI/CD:
  Push no GitHub → Render faz build e deploy automatico da imagem Docker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Etapas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3657600" cy="5303520"/>
          </a:xfrm>
          <a:prstGeom prst="rect">
            <a:avLst/>
          </a:prstGeom>
          <a:solidFill>
            <a:srgbClr val="1A2A3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FFFFFF"/>
                </a:solidFill>
              </a:rPr>
              <a:t>SUPABASE
• PostgreSQL gerenciado
• 2.126 registros inseridos via API
• Credenciais no .env (fora do git)
• ingestion.py faz paginacao automatica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097280"/>
            <a:ext cx="3657600" cy="5303520"/>
          </a:xfrm>
          <a:prstGeom prst="rect">
            <a:avLst/>
          </a:prstGeom>
          <a:solidFill>
            <a:srgbClr val="1A2A3A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FFFFFF"/>
                </a:solidFill>
              </a:rPr>
              <a:t>DUCKDB
• Feature engineering via SQL puro
• 3 features derivadas criadas:
  - accel_decel_ratio
  - histogram_range
  - histogram_skew_proxy
• Resultado salvo em Parquet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097280"/>
            <a:ext cx="3657600" cy="5303520"/>
          </a:xfrm>
          <a:prstGeom prst="rect">
            <a:avLst/>
          </a:prstGeom>
          <a:solidFill>
            <a:srgbClr val="1A2A3A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FFFFFF"/>
                </a:solidFill>
              </a:rPr>
              <a:t>DVC + DAGSHUB
• dvc init + remote DagsHub
• Pipeline em 3 estagios no dvc.yaml
• dvc repro reproduce tudo
• dvc push versiona os dados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Experimentacao com MLflow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BBCC"/>
                </a:solidFill>
              </a:rPr>
              <a:t>3 modelos treinados, metricas rastreadas no DagsHub, melhor promovido ao Model Registry (Production)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2743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D1B2A"/>
                </a:solidFill>
              </a:rPr>
              <a:t>Modelo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554480"/>
            <a:ext cx="2743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D1B2A"/>
                </a:solidFill>
              </a:rPr>
              <a:t>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554480"/>
            <a:ext cx="2743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D1B2A"/>
                </a:solidFill>
              </a:rPr>
              <a:t>F1-Macro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0" y="1554480"/>
            <a:ext cx="2743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D1B2A"/>
                </a:solidFill>
              </a:rPr>
              <a:t>ROC-AUC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2743200" cy="685800"/>
          </a:xfrm>
          <a:prstGeom prst="rect">
            <a:avLst/>
          </a:prstGeom>
          <a:solidFill>
            <a:srgbClr val="0A3A1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ECC71"/>
                </a:solidFill>
              </a:rPr>
              <a:t>Random Forest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103120"/>
            <a:ext cx="2743200" cy="685800"/>
          </a:xfrm>
          <a:prstGeom prst="rect">
            <a:avLst/>
          </a:prstGeom>
          <a:solidFill>
            <a:srgbClr val="0A3A1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96.0%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03120"/>
            <a:ext cx="2743200" cy="685800"/>
          </a:xfrm>
          <a:prstGeom prst="rect">
            <a:avLst/>
          </a:prstGeom>
          <a:solidFill>
            <a:srgbClr val="0A3A1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93.6%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2103120"/>
            <a:ext cx="2743200" cy="685800"/>
          </a:xfrm>
          <a:prstGeom prst="rect">
            <a:avLst/>
          </a:prstGeom>
          <a:solidFill>
            <a:srgbClr val="0A3A1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98.9%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21488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CC71"/>
                </a:solidFill>
              </a:rPr>
              <a:t>BEST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80360"/>
            <a:ext cx="2743200" cy="685800"/>
          </a:xfrm>
          <a:prstGeom prst="rect">
            <a:avLst/>
          </a:prstGeom>
          <a:solidFill>
            <a:srgbClr val="1A2A3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F39C12"/>
                </a:solidFill>
              </a:rPr>
              <a:t>Gradient Boosting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880360"/>
            <a:ext cx="2743200" cy="685800"/>
          </a:xfrm>
          <a:prstGeom prst="rect">
            <a:avLst/>
          </a:prstGeom>
          <a:solidFill>
            <a:srgbClr val="1A2A3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FFFFFF"/>
                </a:solidFill>
              </a:rPr>
              <a:t>95.5%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880360"/>
            <a:ext cx="2743200" cy="685800"/>
          </a:xfrm>
          <a:prstGeom prst="rect">
            <a:avLst/>
          </a:prstGeom>
          <a:solidFill>
            <a:srgbClr val="1A2A3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FFFFFF"/>
                </a:solidFill>
              </a:rPr>
              <a:t>91.5%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2880360"/>
            <a:ext cx="2743200" cy="685800"/>
          </a:xfrm>
          <a:prstGeom prst="rect">
            <a:avLst/>
          </a:prstGeom>
          <a:solidFill>
            <a:srgbClr val="1A2A3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FFFFFF"/>
                </a:solidFill>
              </a:rPr>
              <a:t>98.4%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57600"/>
            <a:ext cx="2743200" cy="685800"/>
          </a:xfrm>
          <a:prstGeom prst="rect">
            <a:avLst/>
          </a:prstGeom>
          <a:solidFill>
            <a:srgbClr val="1A2A3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E74C3C"/>
                </a:solidFill>
              </a:rPr>
              <a:t>Logistic Regression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3657600"/>
            <a:ext cx="2743200" cy="685800"/>
          </a:xfrm>
          <a:prstGeom prst="rect">
            <a:avLst/>
          </a:prstGeom>
          <a:solidFill>
            <a:srgbClr val="1A2A3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FFFFFF"/>
                </a:solidFill>
              </a:rPr>
              <a:t>87.3%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657600"/>
            <a:ext cx="2743200" cy="685800"/>
          </a:xfrm>
          <a:prstGeom prst="rect">
            <a:avLst/>
          </a:prstGeom>
          <a:solidFill>
            <a:srgbClr val="1A2A3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FFFFFF"/>
                </a:solidFill>
              </a:rPr>
              <a:t>79.6%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3657600"/>
            <a:ext cx="2743200" cy="685800"/>
          </a:xfrm>
          <a:prstGeom prst="rect">
            <a:avLst/>
          </a:prstGeom>
          <a:solidFill>
            <a:srgbClr val="1A2A3A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FFFFFF"/>
                </a:solidFill>
              </a:rPr>
              <a:t>96.9%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663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</a:rPr>
              <a:t>Metrica principal: F1-Macro (adequada para classes desbalanceadas: 77.8% Normal / 13.9% Suspect / 8.3% Pathological)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</a:rPr>
              <a:t>Parametros versionados em params.yaml — integrados ao pipeline DVC para reproducibilidade total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Aplicacao Streamlit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CC71"/>
                </a:solidFill>
              </a:rPr>
              <a:t>aula08-projeto-final.onrender.com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3657600" cy="4572000"/>
          </a:xfrm>
          <a:prstGeom prst="rect">
            <a:avLst/>
          </a:prstGeom>
          <a:solidFill>
            <a:srgbClr val="1A2A3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FFFFFF"/>
                </a:solidFill>
              </a:rPr>
              <a:t>Aba Predicao
21 inputs do exame CTG
Botao Classificar
Gauges de probabilidade por classe
(Normal / Suspect / Pathological)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554480"/>
            <a:ext cx="3657600" cy="4572000"/>
          </a:xfrm>
          <a:prstGeom prst="rect">
            <a:avLst/>
          </a:prstGeom>
          <a:solidFill>
            <a:srgbClr val="1A2A3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FFFFFF"/>
                </a:solidFill>
              </a:rPr>
              <a:t>Aba Exploracao
Dados carregados do Supabase
Grafico de pizza das classes
Boxplot por feature e classe
Estatisticas descritivas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554480"/>
            <a:ext cx="3657600" cy="4572000"/>
          </a:xfrm>
          <a:prstGeom prst="rect">
            <a:avLst/>
          </a:prstGeom>
          <a:solidFill>
            <a:srgbClr val="1A2A3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>
                <a:solidFill>
                  <a:srgbClr val="FFFFFF"/>
                </a:solidFill>
              </a:rPr>
              <a:t>Aba Sobre
Descricao do problema
Arquitetura do pipeline
Tabela de resultados dos modelos
Stack tecnica completa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Deploy: Docker + 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3657600" cy="5303520"/>
          </a:xfrm>
          <a:prstGeom prst="rect">
            <a:avLst/>
          </a:prstGeom>
          <a:solidFill>
            <a:srgbClr val="1A2A3A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FFFFFF"/>
                </a:solidFill>
              </a:rPr>
              <a:t>DOCKERFILE
• Base: python:3.11-slim
• Instala requirements.txt
• Copia codigo da aplicacao
• Expoe porta dinamica $PORT
• Testado localmente antes
  do deploy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097280"/>
            <a:ext cx="3657600" cy="5303520"/>
          </a:xfrm>
          <a:prstGeom prst="rect">
            <a:avLst/>
          </a:prstGeom>
          <a:solidFill>
            <a:srgbClr val="1A2A3A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FFFFFF"/>
                </a:solidFill>
              </a:rPr>
              <a:t>RENDER
• Web Service via Docker
• Conectado ao GitHub
• Deploy automatico a cada
  push na branch main
• Variaveis de ambiente
  configuradas no painel
• URL publica gerada
  automaticamente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097280"/>
            <a:ext cx="3657600" cy="5303520"/>
          </a:xfrm>
          <a:prstGeom prst="rect">
            <a:avLst/>
          </a:prstGeom>
          <a:solidFill>
            <a:srgbClr val="1A2A3A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FFFFFF"/>
                </a:solidFill>
              </a:rPr>
              <a:t>CI/CD
• Push GitHub → build
  automatico no Render
• Sem intervencao manual
• Plano gratuito (free tier)
• Spin down em inatividade
  (caracteristica do plano free)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Resumo dos Entregaveis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594360"/>
          </a:xfrm>
          <a:prstGeom prst="rect">
            <a:avLst/>
          </a:prstGeom>
          <a:solidFill>
            <a:srgbClr val="1A2A3A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ECC71"/>
                </a:solidFill>
              </a:rPr>
              <a:t>  GitHub / DagsHub   </a:t>
            </a:r>
            <a:r>
              <a:rPr sz="1300">
                <a:solidFill>
                  <a:srgbClr val="FFFFFF"/>
                </a:solidFill>
              </a:rPr>
              <a:t>Codigo + commits   |   github.com/kevloki/Aula08_Projeto_Final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55648"/>
            <a:ext cx="11338560" cy="594360"/>
          </a:xfrm>
          <a:prstGeom prst="rect">
            <a:avLst/>
          </a:prstGeom>
          <a:solidFill>
            <a:srgbClr val="1A2A3A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ECC71"/>
                </a:solidFill>
              </a:rPr>
              <a:t>  Supabase   </a:t>
            </a:r>
            <a:r>
              <a:rPr sz="1300">
                <a:solidFill>
                  <a:srgbClr val="FFFFFF"/>
                </a:solidFill>
              </a:rPr>
              <a:t>2.126 registros na tabela fetal_health   |   bespxbjpmvmwvmppxkiw.supabase.co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459736"/>
            <a:ext cx="11338560" cy="594360"/>
          </a:xfrm>
          <a:prstGeom prst="rect">
            <a:avLst/>
          </a:prstGeom>
          <a:solidFill>
            <a:srgbClr val="1A2A3A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ECC71"/>
                </a:solidFill>
              </a:rPr>
              <a:t>  DVC + DagsHub   </a:t>
            </a:r>
            <a:r>
              <a:rPr sz="1300">
                <a:solidFill>
                  <a:srgbClr val="FFFFFF"/>
                </a:solidFill>
              </a:rPr>
              <a:t>Dados versionados, pipeline reproduzivel   |   dagshub.com/kevloki/my-first-repo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163824"/>
            <a:ext cx="11338560" cy="594360"/>
          </a:xfrm>
          <a:prstGeom prst="rect">
            <a:avLst/>
          </a:prstGeom>
          <a:solidFill>
            <a:srgbClr val="1A2A3A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ECC71"/>
                </a:solidFill>
              </a:rPr>
              <a:t>  MLflow   </a:t>
            </a:r>
            <a:r>
              <a:rPr sz="1300">
                <a:solidFill>
                  <a:srgbClr val="FFFFFF"/>
                </a:solidFill>
              </a:rPr>
              <a:t>3 modelos, metricas, Model Registry   |   dagshub.com/kevloki/my-first-repo.mlflow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867912"/>
            <a:ext cx="11338560" cy="594360"/>
          </a:xfrm>
          <a:prstGeom prst="rect">
            <a:avLst/>
          </a:prstGeom>
          <a:solidFill>
            <a:srgbClr val="1A2A3A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ECC71"/>
                </a:solidFill>
              </a:rPr>
              <a:t>  Docker   </a:t>
            </a:r>
            <a:r>
              <a:rPr sz="1300">
                <a:solidFill>
                  <a:srgbClr val="FFFFFF"/>
                </a:solidFill>
              </a:rPr>
              <a:t>Imagem testada localmente   |   fetal-health-app:latest  (2.16 GB)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572000"/>
            <a:ext cx="11338560" cy="594360"/>
          </a:xfrm>
          <a:prstGeom prst="rect">
            <a:avLst/>
          </a:prstGeom>
          <a:solidFill>
            <a:srgbClr val="1A2A3A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ECC71"/>
                </a:solidFill>
              </a:rPr>
              <a:t>  Render + Streamlit   </a:t>
            </a:r>
            <a:r>
              <a:rPr sz="1300">
                <a:solidFill>
                  <a:srgbClr val="FFFFFF"/>
                </a:solidFill>
              </a:rPr>
              <a:t>App publica e funcionando   |   aula08-projeto-final.onrender.com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276088"/>
            <a:ext cx="11338560" cy="594360"/>
          </a:xfrm>
          <a:prstGeom prst="rect">
            <a:avLst/>
          </a:prstGeom>
          <a:solidFill>
            <a:srgbClr val="1A2A3A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ECC71"/>
                </a:solidFill>
              </a:rPr>
              <a:t>  Notebook EDA   </a:t>
            </a:r>
            <a:r>
              <a:rPr sz="1300">
                <a:solidFill>
                  <a:srgbClr val="FFFFFF"/>
                </a:solidFill>
              </a:rPr>
              <a:t>Analise exploratoria completa   |   notebooks/eda.ipynb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